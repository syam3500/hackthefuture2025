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7" r:id="rId2"/>
    <p:sldId id="259" r:id="rId3"/>
    <p:sldId id="258" r:id="rId4"/>
    <p:sldId id="260" r:id="rId5"/>
    <p:sldId id="261" r:id="rId6"/>
    <p:sldId id="264" r:id="rId7"/>
    <p:sldId id="263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F7F9F1-FCAF-428C-BE75-156E4B820D80}" type="datetimeFigureOut">
              <a:rPr lang="fr-BE" smtClean="0"/>
              <a:t>12-11-25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2D1023-1CCC-4834-B965-F860580B7536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17855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6382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146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102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243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54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86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542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311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141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1750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9870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4EDF1-DF4A-1088-0DD2-4B253C847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4CBD07-043D-6367-167C-22DBE455DA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2" indent="0" algn="ctr">
              <a:buNone/>
              <a:defRPr sz="2000"/>
            </a:lvl2pPr>
            <a:lvl3pPr marL="914363" indent="0" algn="ctr">
              <a:buNone/>
              <a:defRPr sz="1800"/>
            </a:lvl3pPr>
            <a:lvl4pPr marL="1371545" indent="0" algn="ctr">
              <a:buNone/>
              <a:defRPr sz="1600"/>
            </a:lvl4pPr>
            <a:lvl5pPr marL="1828727" indent="0" algn="ctr">
              <a:buNone/>
              <a:defRPr sz="1600"/>
            </a:lvl5pPr>
            <a:lvl6pPr marL="2285909" indent="0" algn="ctr">
              <a:buNone/>
              <a:defRPr sz="1600"/>
            </a:lvl6pPr>
            <a:lvl7pPr marL="2743090" indent="0" algn="ctr">
              <a:buNone/>
              <a:defRPr sz="1600"/>
            </a:lvl7pPr>
            <a:lvl8pPr marL="3200272" indent="0" algn="ctr">
              <a:buNone/>
              <a:defRPr sz="1600"/>
            </a:lvl8pPr>
            <a:lvl9pPr marL="365745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AC702-4013-7DCA-6F62-A2D3B448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D69BF-558A-F64D-84C4-CBE566C1B787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5A89A9-8C96-8830-60C4-34501598E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A5F01-36D4-2B51-9C9D-4D83B24D3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D60F4-183A-2C45-9F70-6EB6794229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654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003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sldNum="0" hdr="0" ftr="0" dt="0"/>
  <p:txStyles>
    <p:titleStyle>
      <a:lvl1pPr algn="ctr" defTabSz="761970" rtl="0" eaLnBrk="1" latinLnBrk="0" hangingPunct="1">
        <a:spcBef>
          <a:spcPct val="0"/>
        </a:spcBef>
        <a:buNone/>
        <a:defRPr sz="36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39" indent="-285739" algn="l" defTabSz="7619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1pPr>
      <a:lvl2pPr marL="619100" indent="-238115" algn="l" defTabSz="761970" rtl="0" eaLnBrk="1" latinLnBrk="0" hangingPunct="1">
        <a:spcBef>
          <a:spcPct val="20000"/>
        </a:spcBef>
        <a:buFont typeface="Arial" pitchFamily="34" charset="0"/>
        <a:buChar char="–"/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952462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33447" indent="-190492" algn="l" defTabSz="761970" rtl="0" eaLnBrk="1" latinLnBrk="0" hangingPunct="1">
        <a:spcBef>
          <a:spcPct val="20000"/>
        </a:spcBef>
        <a:buFont typeface="Arial" pitchFamily="34" charset="0"/>
        <a:buChar char="–"/>
        <a:defRPr sz="1667" kern="1200">
          <a:solidFill>
            <a:schemeClr val="tx1"/>
          </a:solidFill>
          <a:latin typeface="+mn-lt"/>
          <a:ea typeface="+mn-ea"/>
          <a:cs typeface="+mn-cs"/>
        </a:defRPr>
      </a:lvl4pPr>
      <a:lvl5pPr marL="1714431" indent="-190492" algn="l" defTabSz="761970" rtl="0" eaLnBrk="1" latinLnBrk="0" hangingPunct="1">
        <a:spcBef>
          <a:spcPct val="20000"/>
        </a:spcBef>
        <a:buFont typeface="Arial" pitchFamily="34" charset="0"/>
        <a:buChar char="»"/>
        <a:defRPr sz="1667" kern="1200">
          <a:solidFill>
            <a:schemeClr val="tx1"/>
          </a:solidFill>
          <a:latin typeface="+mn-lt"/>
          <a:ea typeface="+mn-ea"/>
          <a:cs typeface="+mn-cs"/>
        </a:defRPr>
      </a:lvl5pPr>
      <a:lvl6pPr marL="2095416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6pPr>
      <a:lvl7pPr marL="2476401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7pPr>
      <a:lvl8pPr marL="2857386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8pPr>
      <a:lvl9pPr marL="3238370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985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97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95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93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92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90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893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878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92" y="2523629"/>
            <a:ext cx="6297018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761970">
              <a:lnSpc>
                <a:spcPts val="4042"/>
              </a:lnSpc>
            </a:pPr>
            <a:r>
              <a:rPr lang="en-US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Ocean Health Data: From Raw Data to Insights</a:t>
            </a:r>
            <a:endParaRPr lang="en-US" sz="3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92" y="3805139"/>
            <a:ext cx="6297018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761970">
              <a:lnSpc>
                <a:spcPts val="2083"/>
              </a:lnSpc>
            </a:pPr>
            <a:r>
              <a:rPr lang="en-US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Transforming ocean health data into actionable insights using Machine Learning and interactive visualizations for environmental stakeholders and policy makers.</a:t>
            </a:r>
            <a:endParaRPr lang="en-US" sz="1292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310E61-B76B-31F8-37D4-B7986478E7C0}"/>
              </a:ext>
            </a:extLst>
          </p:cNvPr>
          <p:cNvSpPr txBox="1"/>
          <p:nvPr/>
        </p:nvSpPr>
        <p:spPr>
          <a:xfrm>
            <a:off x="480907" y="353907"/>
            <a:ext cx="3789820" cy="579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761970">
              <a:lnSpc>
                <a:spcPts val="4042"/>
              </a:lnSpc>
            </a:pP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Research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question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A3FF1C-E3A1-37DC-040A-32E4BC37BB50}"/>
              </a:ext>
            </a:extLst>
          </p:cNvPr>
          <p:cNvSpPr txBox="1"/>
          <p:nvPr/>
        </p:nvSpPr>
        <p:spPr>
          <a:xfrm>
            <a:off x="658707" y="1581834"/>
            <a:ext cx="728133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ocean health indicators to forecast trends and identify key contributing factors.</a:t>
            </a:r>
          </a:p>
          <a:p>
            <a:r>
              <a:rPr lang="en-US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machine learning to predict outcome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554432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55C45C-61F6-FA84-079E-20E2BF22BC40}"/>
              </a:ext>
            </a:extLst>
          </p:cNvPr>
          <p:cNvSpPr txBox="1"/>
          <p:nvPr/>
        </p:nvSpPr>
        <p:spPr>
          <a:xfrm>
            <a:off x="447040" y="294640"/>
            <a:ext cx="1824538" cy="579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761970">
              <a:lnSpc>
                <a:spcPts val="4042"/>
              </a:lnSpc>
            </a:pP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Strategy</a:t>
            </a:r>
            <a:endParaRPr lang="fr-BE" sz="325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C14A06-4724-3DEE-9BCC-BFEC5FF828B9}"/>
              </a:ext>
            </a:extLst>
          </p:cNvPr>
          <p:cNvSpPr txBox="1"/>
          <p:nvPr/>
        </p:nvSpPr>
        <p:spPr>
          <a:xfrm>
            <a:off x="634999" y="1304204"/>
            <a:ext cx="780626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 err="1">
                <a:solidFill>
                  <a:schemeClr val="bg1"/>
                </a:solidFill>
              </a:rPr>
              <a:t>Identify</a:t>
            </a:r>
            <a:r>
              <a:rPr lang="fr-BE" dirty="0">
                <a:solidFill>
                  <a:schemeClr val="bg1"/>
                </a:solidFill>
              </a:rPr>
              <a:t> key </a:t>
            </a:r>
            <a:r>
              <a:rPr lang="fr-BE" dirty="0" err="1">
                <a:solidFill>
                  <a:schemeClr val="bg1"/>
                </a:solidFill>
              </a:rPr>
              <a:t>contributing</a:t>
            </a:r>
            <a:r>
              <a:rPr lang="fr-BE" dirty="0">
                <a:solidFill>
                  <a:schemeClr val="bg1"/>
                </a:solidFill>
              </a:rPr>
              <a:t> </a:t>
            </a:r>
            <a:r>
              <a:rPr lang="fr-BE" dirty="0" err="1">
                <a:solidFill>
                  <a:schemeClr val="bg1"/>
                </a:solidFill>
              </a:rPr>
              <a:t>factors</a:t>
            </a:r>
            <a:r>
              <a:rPr lang="fr-BE" dirty="0">
                <a:solidFill>
                  <a:schemeClr val="bg1"/>
                </a:solidFill>
              </a:rPr>
              <a:t> </a:t>
            </a:r>
            <a:r>
              <a:rPr lang="fr-BE" dirty="0" err="1">
                <a:solidFill>
                  <a:schemeClr val="bg1"/>
                </a:solidFill>
              </a:rPr>
              <a:t>using</a:t>
            </a:r>
            <a:r>
              <a:rPr lang="fr-BE" dirty="0">
                <a:solidFill>
                  <a:schemeClr val="bg1"/>
                </a:solidFill>
              </a:rPr>
              <a:t> Principal Component </a:t>
            </a:r>
            <a:r>
              <a:rPr lang="fr-BE" dirty="0" err="1">
                <a:solidFill>
                  <a:schemeClr val="bg1"/>
                </a:solidFill>
              </a:rPr>
              <a:t>Analysis</a:t>
            </a:r>
            <a:endParaRPr lang="fr-BE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BE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>
                <a:solidFill>
                  <a:schemeClr val="bg1"/>
                </a:solidFill>
              </a:rPr>
              <a:t>Try </a:t>
            </a:r>
            <a:r>
              <a:rPr lang="fr-BE" dirty="0" err="1">
                <a:solidFill>
                  <a:schemeClr val="bg1"/>
                </a:solidFill>
              </a:rPr>
              <a:t>different</a:t>
            </a:r>
            <a:r>
              <a:rPr lang="fr-BE" dirty="0">
                <a:solidFill>
                  <a:schemeClr val="bg1"/>
                </a:solidFill>
              </a:rPr>
              <a:t> Machine Learning </a:t>
            </a:r>
            <a:r>
              <a:rPr lang="fr-BE" dirty="0" err="1">
                <a:solidFill>
                  <a:schemeClr val="bg1"/>
                </a:solidFill>
              </a:rPr>
              <a:t>Models</a:t>
            </a:r>
            <a:r>
              <a:rPr lang="fr-BE" dirty="0">
                <a:solidFill>
                  <a:schemeClr val="bg1"/>
                </a:solidFill>
              </a:rPr>
              <a:t> and optimise the </a:t>
            </a:r>
            <a:r>
              <a:rPr lang="fr-BE" dirty="0" err="1">
                <a:solidFill>
                  <a:schemeClr val="bg1"/>
                </a:solidFill>
              </a:rPr>
              <a:t>Models</a:t>
            </a:r>
            <a:endParaRPr lang="fr-BE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 err="1">
                <a:solidFill>
                  <a:schemeClr val="bg1"/>
                </a:solidFill>
              </a:rPr>
              <a:t>Identify</a:t>
            </a:r>
            <a:r>
              <a:rPr lang="fr-BE" dirty="0">
                <a:solidFill>
                  <a:schemeClr val="bg1"/>
                </a:solidFill>
              </a:rPr>
              <a:t> important </a:t>
            </a:r>
            <a:r>
              <a:rPr lang="fr-BE" dirty="0" err="1">
                <a:solidFill>
                  <a:schemeClr val="bg1"/>
                </a:solidFill>
              </a:rPr>
              <a:t>features</a:t>
            </a:r>
            <a:endParaRPr lang="fr-BE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dirty="0">
                <a:solidFill>
                  <a:schemeClr val="bg1"/>
                </a:solidFill>
              </a:rPr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857892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8B2CB2-2AD7-D6EF-7260-606F1AB756EB}"/>
              </a:ext>
            </a:extLst>
          </p:cNvPr>
          <p:cNvSpPr txBox="1"/>
          <p:nvPr/>
        </p:nvSpPr>
        <p:spPr>
          <a:xfrm>
            <a:off x="245533" y="228600"/>
            <a:ext cx="4740400" cy="5924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PCA Data Visualisation</a:t>
            </a:r>
          </a:p>
        </p:txBody>
      </p:sp>
    </p:spTree>
    <p:extLst>
      <p:ext uri="{BB962C8B-B14F-4D97-AF65-F5344CB8AC3E}">
        <p14:creationId xmlns:p14="http://schemas.microsoft.com/office/powerpoint/2010/main" val="13598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98A1EA-D172-72BC-74D6-E9940C7B3ACC}"/>
              </a:ext>
            </a:extLst>
          </p:cNvPr>
          <p:cNvSpPr txBox="1"/>
          <p:nvPr/>
        </p:nvSpPr>
        <p:spPr>
          <a:xfrm>
            <a:off x="245533" y="228600"/>
            <a:ext cx="1385316" cy="5924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Table </a:t>
            </a:r>
          </a:p>
        </p:txBody>
      </p:sp>
    </p:spTree>
    <p:extLst>
      <p:ext uri="{BB962C8B-B14F-4D97-AF65-F5344CB8AC3E}">
        <p14:creationId xmlns:p14="http://schemas.microsoft.com/office/powerpoint/2010/main" val="11650904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8F740-FB45-DAB6-908E-8A2A4156B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D265E2-B68E-0FB1-CF2E-4BB270EE254F}"/>
              </a:ext>
            </a:extLst>
          </p:cNvPr>
          <p:cNvSpPr txBox="1"/>
          <p:nvPr/>
        </p:nvSpPr>
        <p:spPr>
          <a:xfrm>
            <a:off x="245533" y="228600"/>
            <a:ext cx="1385316" cy="5924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Table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72784E3-8148-773C-F752-BAF80EBAA7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617735"/>
              </p:ext>
            </p:extLst>
          </p:nvPr>
        </p:nvGraphicFramePr>
        <p:xfrm>
          <a:off x="416984" y="1687354"/>
          <a:ext cx="5357284" cy="3773645"/>
        </p:xfrm>
        <a:graphic>
          <a:graphicData uri="http://schemas.openxmlformats.org/drawingml/2006/table">
            <a:tbl>
              <a:tblPr/>
              <a:tblGrid>
                <a:gridCol w="1247306">
                  <a:extLst>
                    <a:ext uri="{9D8B030D-6E8A-4147-A177-3AD203B41FA5}">
                      <a16:colId xmlns:a16="http://schemas.microsoft.com/office/drawing/2014/main" val="3180290774"/>
                    </a:ext>
                  </a:extLst>
                </a:gridCol>
                <a:gridCol w="1022383">
                  <a:extLst>
                    <a:ext uri="{9D8B030D-6E8A-4147-A177-3AD203B41FA5}">
                      <a16:colId xmlns:a16="http://schemas.microsoft.com/office/drawing/2014/main" val="3711109599"/>
                    </a:ext>
                  </a:extLst>
                </a:gridCol>
                <a:gridCol w="2247743">
                  <a:extLst>
                    <a:ext uri="{9D8B030D-6E8A-4147-A177-3AD203B41FA5}">
                      <a16:colId xmlns:a16="http://schemas.microsoft.com/office/drawing/2014/main" val="3066755173"/>
                    </a:ext>
                  </a:extLst>
                </a:gridCol>
                <a:gridCol w="839852">
                  <a:extLst>
                    <a:ext uri="{9D8B030D-6E8A-4147-A177-3AD203B41FA5}">
                      <a16:colId xmlns:a16="http://schemas.microsoft.com/office/drawing/2014/main" val="1088649714"/>
                    </a:ext>
                  </a:extLst>
                </a:gridCol>
              </a:tblGrid>
              <a:tr h="46877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Model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3568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Validation_Strategy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Hyperparameters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MSE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568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438478"/>
                  </a:ext>
                </a:extLst>
              </a:tr>
              <a:tr h="11016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Decision</a:t>
                      </a: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 </a:t>
                      </a:r>
                      <a:r>
                        <a:rPr lang="fr-BE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Tree</a:t>
                      </a:r>
                      <a:endParaRPr lang="fr-BE" sz="1400" b="0" dirty="0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619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K-</a:t>
                      </a:r>
                      <a:r>
                        <a:rPr lang="fr-BE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fold</a:t>
                      </a: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 = 5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GB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Max_depth</a:t>
                      </a:r>
                      <a:r>
                        <a:rPr lang="en-GB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=3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205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712742"/>
                  </a:ext>
                </a:extLst>
              </a:tr>
              <a:tr h="11016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Random</a:t>
                      </a: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 Forest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0.7/0.3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619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n_estimators</a:t>
                      </a:r>
                      <a:r>
                        <a:rPr lang="en-GB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=500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122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083745"/>
                  </a:ext>
                </a:extLst>
              </a:tr>
              <a:tr h="11016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Boosting</a:t>
                      </a:r>
                      <a:endParaRPr lang="fr-BE" sz="1400" b="0" dirty="0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0.7/0.3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GB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n_estimators</a:t>
                      </a:r>
                      <a:r>
                        <a:rPr lang="en-GB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=200, </a:t>
                      </a:r>
                      <a:r>
                        <a:rPr lang="en-GB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learning_rate</a:t>
                      </a:r>
                      <a:r>
                        <a:rPr lang="en-GB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=0.2, </a:t>
                      </a:r>
                      <a:r>
                        <a:rPr lang="en-GB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max_depth</a:t>
                      </a:r>
                      <a:r>
                        <a:rPr lang="en-GB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=5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121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251882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F38047E-8583-F28E-2A93-78E305FBF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2423" y="3574176"/>
            <a:ext cx="3952593" cy="31575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5CD5E-AE53-2C01-1E1D-151C05D138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9267" y="188754"/>
            <a:ext cx="4267200" cy="33289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F4BB289-6E57-BDE6-81C4-59FD07847AC2}"/>
              </a:ext>
            </a:extLst>
          </p:cNvPr>
          <p:cNvSpPr txBox="1"/>
          <p:nvPr/>
        </p:nvSpPr>
        <p:spPr>
          <a:xfrm>
            <a:off x="5774268" y="750670"/>
            <a:ext cx="17375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BE" dirty="0" err="1">
                <a:solidFill>
                  <a:schemeClr val="bg1"/>
                </a:solidFill>
              </a:rPr>
              <a:t>Hyperparameter</a:t>
            </a:r>
            <a:endParaRPr lang="fr-BE" dirty="0">
              <a:solidFill>
                <a:schemeClr val="bg1"/>
              </a:solidFill>
            </a:endParaRPr>
          </a:p>
          <a:p>
            <a:pPr algn="ctr"/>
            <a:r>
              <a:rPr lang="fr-BE" dirty="0">
                <a:solidFill>
                  <a:schemeClr val="bg1"/>
                </a:solidFill>
              </a:rPr>
              <a:t> tuning</a:t>
            </a:r>
          </a:p>
        </p:txBody>
      </p:sp>
    </p:spTree>
    <p:extLst>
      <p:ext uri="{BB962C8B-B14F-4D97-AF65-F5344CB8AC3E}">
        <p14:creationId xmlns:p14="http://schemas.microsoft.com/office/powerpoint/2010/main" val="9714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DA4D03-E467-DFAC-8DAC-B8DA85ACF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072" y="0"/>
            <a:ext cx="6901589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90EBA80-530C-ADE3-1279-DA351D2F3EF5}"/>
              </a:ext>
            </a:extLst>
          </p:cNvPr>
          <p:cNvSpPr txBox="1"/>
          <p:nvPr/>
        </p:nvSpPr>
        <p:spPr>
          <a:xfrm>
            <a:off x="95799" y="76200"/>
            <a:ext cx="2964273" cy="10926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Decision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Tree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</a:p>
          <a:p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Visualisation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BF7BA8-479F-8850-34C5-22F1B3087A76}"/>
              </a:ext>
            </a:extLst>
          </p:cNvPr>
          <p:cNvSpPr txBox="1"/>
          <p:nvPr/>
        </p:nvSpPr>
        <p:spPr>
          <a:xfrm>
            <a:off x="95798" y="1625600"/>
            <a:ext cx="2351069" cy="55938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3250" dirty="0">
                <a:solidFill>
                  <a:srgbClr val="76B9FF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ECO : Economies</a:t>
            </a:r>
          </a:p>
          <a:p>
            <a:r>
              <a:rPr lang="fr-BE" sz="3250" dirty="0">
                <a:solidFill>
                  <a:srgbClr val="76B9FF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 : </a:t>
            </a:r>
            <a:r>
              <a:rPr lang="fr-BE" sz="3250" dirty="0" err="1">
                <a:solidFill>
                  <a:srgbClr val="76B9FF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Sense</a:t>
            </a:r>
            <a:r>
              <a:rPr lang="fr-BE" sz="3250" dirty="0">
                <a:solidFill>
                  <a:srgbClr val="76B9FF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 of Place</a:t>
            </a:r>
          </a:p>
          <a:p>
            <a:r>
              <a:rPr lang="fr-BE" sz="3250" dirty="0">
                <a:solidFill>
                  <a:srgbClr val="76B9FF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SPP : </a:t>
            </a:r>
            <a:r>
              <a:rPr lang="fr-BE" sz="3250" dirty="0" err="1">
                <a:solidFill>
                  <a:srgbClr val="76B9FF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Species</a:t>
            </a:r>
            <a:r>
              <a:rPr lang="fr-BE" sz="3250" dirty="0">
                <a:solidFill>
                  <a:srgbClr val="76B9FF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 </a:t>
            </a:r>
          </a:p>
          <a:p>
            <a:r>
              <a:rPr lang="fr-BE" sz="3250" dirty="0">
                <a:solidFill>
                  <a:srgbClr val="76B9FF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AO : </a:t>
            </a:r>
          </a:p>
          <a:p>
            <a:r>
              <a:rPr lang="fr-BE" sz="3250" dirty="0">
                <a:solidFill>
                  <a:srgbClr val="76B9FF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Artisanal </a:t>
            </a:r>
            <a:r>
              <a:rPr lang="fr-BE" sz="3250" dirty="0" err="1">
                <a:solidFill>
                  <a:srgbClr val="76B9FF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Fisheries</a:t>
            </a:r>
            <a:endParaRPr lang="fr-BE" sz="3250" dirty="0">
              <a:solidFill>
                <a:srgbClr val="76B9FF"/>
              </a:solidFill>
              <a:latin typeface="Aptos" panose="020B0004020202020204" pitchFamily="34" charset="0"/>
              <a:ea typeface="Roboto Slab" pitchFamily="34" charset="-122"/>
              <a:cs typeface="Roboto Slab" pitchFamily="34" charset="-120"/>
            </a:endParaRPr>
          </a:p>
          <a:p>
            <a:endParaRPr lang="fr-BE" sz="3250" dirty="0">
              <a:solidFill>
                <a:srgbClr val="76B9FF"/>
              </a:solidFill>
              <a:latin typeface="Aptos" panose="020B0004020202020204" pitchFamily="34" charset="0"/>
              <a:ea typeface="Roboto Slab" pitchFamily="34" charset="-122"/>
              <a:cs typeface="Roboto Slab" pitchFamily="34" charset="-120"/>
            </a:endParaRPr>
          </a:p>
          <a:p>
            <a:endParaRPr lang="fr-BE" sz="325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1257338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</Words>
  <Application>Microsoft Office PowerPoint</Application>
  <PresentationFormat>Widescreen</PresentationFormat>
  <Paragraphs>40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Arial</vt:lpstr>
      <vt:lpstr>Calibri</vt:lpstr>
      <vt:lpstr>Roboto</vt:lpstr>
      <vt:lpstr>Roboto Slab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Sophie Y.</dc:creator>
  <cp:lastModifiedBy>Sophie Y.</cp:lastModifiedBy>
  <cp:revision>1</cp:revision>
  <dcterms:created xsi:type="dcterms:W3CDTF">2025-11-12T09:37:16Z</dcterms:created>
  <dcterms:modified xsi:type="dcterms:W3CDTF">2025-11-12T14:18:54Z</dcterms:modified>
</cp:coreProperties>
</file>